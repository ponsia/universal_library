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  <p:sldId id="257" r:id="rId2"/>
    <p:sldId id="258" r:id="rId3"/>
  </p:sldIdLst>
  <p:sldSz cx="12192000" cy="6858000" type="screen16x9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shape 2"/>
          <p:cNvSpPr/>
          <p:nvPr/>
        </p:nvSpPr>
        <p:spPr>
          <a:xfrm>
            <a:off x="365760" y="228600"/>
            <a:ext cx="11430000" cy="54864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F4F8FC"/>
            </a:solidFill>
          </a:ln>
        </p:spPr>
        <p:txBody>
          <a:bodyPr wrap="square" anchor="ctr" lIns="100000" rIns="100000" tIns="60000" bIns="60000"/>
          <a:lstStyle/>
          <a:p>
            <a:pPr algn="ctr"/>
            <a:r>
              <a:rPr lang="en-US" sz="3000" b="1">
                <a:solidFill>
                  <a:srgbClr val="144A80"/>
                </a:solidFill>
                <a:latin typeface="Calibri"/>
              </a:rPr>
              <a:t>UniLib — System Overview</a:t>
            </a:r>
            <a:endParaRPr lang="en-US"/>
          </a:p>
        </p:txBody>
      </p:sp>
      <p:sp>
        <p:nvSpPr>
          <p:cNvPr id="3" name="Editable shape 3"/>
          <p:cNvSpPr/>
          <p:nvPr/>
        </p:nvSpPr>
        <p:spPr>
          <a:xfrm>
            <a:off x="365760" y="868680"/>
            <a:ext cx="11430000" cy="4114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F4F8FC"/>
            </a:solidFill>
          </a:ln>
        </p:spPr>
        <p:txBody>
          <a:bodyPr wrap="square" anchor="ctr" lIns="100000" rIns="100000" tIns="60000" bIns="60000"/>
          <a:lstStyle/>
          <a:p>
            <a:pPr algn="ctr"/>
            <a:r>
              <a:rPr lang="en-US" sz="1600" b="0">
                <a:solidFill>
                  <a:srgbClr val="183247"/>
                </a:solidFill>
                <a:latin typeface="Calibri"/>
              </a:rPr>
              <a:t>An Android study assistant that answers questions using Form 1 TIE textbooks.</a:t>
            </a:r>
            <a:endParaRPr lang="en-US"/>
          </a:p>
        </p:txBody>
      </p:sp>
      <p:sp>
        <p:nvSpPr>
          <p:cNvPr id="4" name="Editable shape 4"/>
          <p:cNvSpPr/>
          <p:nvPr/>
        </p:nvSpPr>
        <p:spPr>
          <a:xfrm>
            <a:off x="502920" y="1508760"/>
            <a:ext cx="2926080" cy="502920"/>
          </a:xfrm>
          <a:prstGeom prst="roundRect">
            <a:avLst/>
          </a:prstGeom>
          <a:solidFill>
            <a:srgbClr val="DAEAFB"/>
          </a:solidFill>
          <a:ln w="12700">
            <a:solidFill>
              <a:srgbClr val="C9D9E6"/>
            </a:solidFill>
          </a:ln>
        </p:spPr>
        <p:txBody>
          <a:bodyPr wrap="square" anchor="ctr" lIns="100000" rIns="100000" tIns="60000" bIns="60000"/>
          <a:lstStyle/>
          <a:p>
            <a:pPr algn="ctr"/>
            <a:r>
              <a:rPr lang="en-US" sz="1700" b="1">
                <a:solidFill>
                  <a:srgbClr val="144A80"/>
                </a:solidFill>
                <a:latin typeface="Calibri"/>
              </a:rPr>
              <a:t>ONLINE: FIRST-TIME SETUP</a:t>
            </a:r>
            <a:endParaRPr lang="en-US"/>
          </a:p>
        </p:txBody>
      </p:sp>
      <p:sp>
        <p:nvSpPr>
          <p:cNvPr id="5" name="Editable shape 5"/>
          <p:cNvSpPr/>
          <p:nvPr/>
        </p:nvSpPr>
        <p:spPr>
          <a:xfrm>
            <a:off x="502920" y="2194560"/>
            <a:ext cx="29260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9E6"/>
            </a:solidFill>
          </a:ln>
        </p:spPr>
        <p:txBody>
          <a:bodyPr wrap="square" anchor="ctr" lIns="100000" rIns="100000" tIns="60000" bIns="60000"/>
          <a:lstStyle/>
          <a:p>
            <a:pPr algn="ctr"/>
            <a:r>
              <a:rPr lang="en-US" sz="1800" b="0">
                <a:solidFill>
                  <a:srgbClr val="183247"/>
                </a:solidFill>
                <a:latin typeface="Calibri"/>
              </a:rPr>
              <a:t>SMS service</a:t>
            </a:r>
            <a:endParaRPr lang="en-US"/>
          </a:p>
          <a:p>
            <a:pPr algn="ctr"/>
            <a:r>
              <a:rPr lang="en-US" sz="1800" b="0">
                <a:solidFill>
                  <a:srgbClr val="183247"/>
                </a:solidFill>
                <a:latin typeface="Calibri"/>
              </a:rPr>
              <a:t>Access token sent to student</a:t>
            </a:r>
            <a:endParaRPr lang="en-US"/>
          </a:p>
        </p:txBody>
      </p:sp>
      <p:sp>
        <p:nvSpPr>
          <p:cNvPr id="6" name="Editable shape 6"/>
          <p:cNvSpPr/>
          <p:nvPr/>
        </p:nvSpPr>
        <p:spPr>
          <a:xfrm>
            <a:off x="502920" y="3474720"/>
            <a:ext cx="2926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9E6"/>
            </a:solidFill>
          </a:ln>
        </p:spPr>
        <p:txBody>
          <a:bodyPr wrap="square" anchor="ctr" lIns="100000" rIns="100000" tIns="60000" bIns="60000"/>
          <a:lstStyle/>
          <a:p>
            <a:pPr algn="ctr"/>
            <a:r>
              <a:rPr lang="en-US" sz="1800" b="0">
                <a:solidFill>
                  <a:srgbClr val="183247"/>
                </a:solidFill>
                <a:latin typeface="Calibri"/>
              </a:rPr>
              <a:t>Hugging Face</a:t>
            </a:r>
            <a:endParaRPr lang="en-US"/>
          </a:p>
          <a:p>
            <a:pPr algn="ctr"/>
            <a:r>
              <a:rPr lang="en-US" sz="1800" b="0">
                <a:solidFill>
                  <a:srgbClr val="183247"/>
                </a:solidFill>
                <a:latin typeface="Calibri"/>
              </a:rPr>
              <a:t>AI models + tokenizer</a:t>
            </a:r>
            <a:endParaRPr lang="en-US"/>
          </a:p>
        </p:txBody>
      </p:sp>
      <p:sp>
        <p:nvSpPr>
          <p:cNvPr id="7" name="Editable shape 7"/>
          <p:cNvSpPr/>
          <p:nvPr/>
        </p:nvSpPr>
        <p:spPr>
          <a:xfrm>
            <a:off x="4114800" y="1508760"/>
            <a:ext cx="7543800" cy="4526280"/>
          </a:xfrm>
          <a:prstGeom prst="roundRect">
            <a:avLst/>
          </a:prstGeom>
          <a:solidFill>
            <a:srgbClr val="E8F3FF"/>
          </a:solidFill>
          <a:ln w="12700">
            <a:solidFill>
              <a:srgbClr val="A4C8E9"/>
            </a:solidFill>
          </a:ln>
        </p:spPr>
        <p:txBody>
          <a:bodyPr wrap="square" anchor="ctr" lIns="100000" rIns="100000" tIns="60000" bIns="60000"/>
          <a:lstStyle/>
          <a:p>
            <a:pPr algn="ctr"/>
            <a:r>
              <a:rPr lang="en-US" sz="1900" b="0">
                <a:solidFill>
                  <a:srgbClr val="183247"/>
                </a:solidFill>
                <a:latin typeface="Calibri"/>
              </a:rPr>
              <a:t/>
            </a:r>
            <a:endParaRPr lang="en-US"/>
          </a:p>
        </p:txBody>
      </p:sp>
      <p:sp>
        <p:nvSpPr>
          <p:cNvPr id="8" name="Editable shape 8"/>
          <p:cNvSpPr/>
          <p:nvPr/>
        </p:nvSpPr>
        <p:spPr>
          <a:xfrm>
            <a:off x="4297680" y="1645920"/>
            <a:ext cx="7132320" cy="457200"/>
          </a:xfrm>
          <a:prstGeom prst="roundRect">
            <a:avLst/>
          </a:prstGeom>
          <a:solidFill>
            <a:srgbClr val="E8F3FF"/>
          </a:solidFill>
          <a:ln w="12700">
            <a:solidFill>
              <a:srgbClr val="E8F3FF"/>
            </a:solidFill>
          </a:ln>
        </p:spPr>
        <p:txBody>
          <a:bodyPr wrap="square" anchor="ctr" lIns="100000" rIns="100000" tIns="60000" bIns="60000"/>
          <a:lstStyle/>
          <a:p>
            <a:pPr algn="ctr"/>
            <a:r>
              <a:rPr lang="en-US" sz="1900" b="1">
                <a:solidFill>
                  <a:srgbClr val="144A80"/>
                </a:solidFill>
                <a:latin typeface="Calibri"/>
              </a:rPr>
              <a:t>ON THE STUDENT’S ANDROID PHONE</a:t>
            </a:r>
            <a:endParaRPr lang="en-US"/>
          </a:p>
        </p:txBody>
      </p:sp>
      <p:sp>
        <p:nvSpPr>
          <p:cNvPr id="9" name="Editable shape 9"/>
          <p:cNvSpPr/>
          <p:nvPr/>
        </p:nvSpPr>
        <p:spPr>
          <a:xfrm>
            <a:off x="4526280" y="2377440"/>
            <a:ext cx="27889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9E6"/>
            </a:solidFill>
          </a:ln>
        </p:spPr>
        <p:txBody>
          <a:bodyPr wrap="square" anchor="ctr" lIns="100000" rIns="100000" tIns="60000" bIns="60000"/>
          <a:lstStyle/>
          <a:p>
            <a:pPr algn="ctr"/>
            <a:r>
              <a:rPr lang="en-US" sz="1800" b="0">
                <a:solidFill>
                  <a:srgbClr val="183247"/>
                </a:solidFill>
                <a:latin typeface="Calibri"/>
              </a:rPr>
              <a:t>Student</a:t>
            </a:r>
            <a:endParaRPr lang="en-US"/>
          </a:p>
          <a:p>
            <a:pPr algn="ctr"/>
            <a:r>
              <a:rPr lang="en-US" sz="1800" b="0">
                <a:solidFill>
                  <a:srgbClr val="183247"/>
                </a:solidFill>
                <a:latin typeface="Calibri"/>
              </a:rPr>
              <a:t>Types or speaks a question</a:t>
            </a:r>
            <a:endParaRPr lang="en-US"/>
          </a:p>
        </p:txBody>
      </p:sp>
      <p:sp>
        <p:nvSpPr>
          <p:cNvPr id="10" name="Editable shape 10"/>
          <p:cNvSpPr/>
          <p:nvPr/>
        </p:nvSpPr>
        <p:spPr>
          <a:xfrm>
            <a:off x="7406640" y="2734056"/>
            <a:ext cx="411480" cy="274320"/>
          </a:xfrm>
          <a:prstGeom prst="rightArrow">
            <a:avLst/>
          </a:prstGeom>
          <a:solidFill>
            <a:srgbClr val="2585D6"/>
          </a:solidFill>
          <a:ln w="12700">
            <a:solidFill>
              <a:srgbClr val="2585D6"/>
            </a:solidFill>
          </a:ln>
        </p:spPr>
        <p:txBody>
          <a:bodyPr wrap="square" anchor="ctr" lIns="100000" rIns="100000" tIns="60000" bIns="60000"/>
          <a:lstStyle/>
          <a:p>
            <a:pPr algn="ctr"/>
            <a:r>
              <a:rPr lang="en-US" sz="1900" b="0">
                <a:solidFill>
                  <a:srgbClr val="183247"/>
                </a:solidFill>
                <a:latin typeface="Calibri"/>
              </a:rPr>
              <a:t/>
            </a:r>
            <a:endParaRPr lang="en-US"/>
          </a:p>
        </p:txBody>
      </p:sp>
      <p:sp>
        <p:nvSpPr>
          <p:cNvPr id="11" name="Editable shape 11"/>
          <p:cNvSpPr/>
          <p:nvPr/>
        </p:nvSpPr>
        <p:spPr>
          <a:xfrm>
            <a:off x="7955279" y="2377440"/>
            <a:ext cx="32461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9E6"/>
            </a:solidFill>
          </a:ln>
        </p:spPr>
        <p:txBody>
          <a:bodyPr wrap="square" anchor="ctr" lIns="100000" rIns="100000" tIns="60000" bIns="60000"/>
          <a:lstStyle/>
          <a:p>
            <a:pPr algn="ctr"/>
            <a:r>
              <a:rPr lang="en-US" sz="1800" b="0">
                <a:solidFill>
                  <a:srgbClr val="183247"/>
                </a:solidFill>
                <a:latin typeface="Calibri"/>
              </a:rPr>
              <a:t>UniLib app</a:t>
            </a:r>
            <a:endParaRPr lang="en-US"/>
          </a:p>
          <a:p>
            <a:pPr algn="ctr"/>
            <a:r>
              <a:rPr lang="en-US" sz="1800" b="0">
                <a:solidFill>
                  <a:srgbClr val="183247"/>
                </a:solidFill>
                <a:latin typeface="Calibri"/>
              </a:rPr>
              <a:t>Flutter interface + chat</a:t>
            </a:r>
            <a:endParaRPr lang="en-US"/>
          </a:p>
        </p:txBody>
      </p:sp>
      <p:sp>
        <p:nvSpPr>
          <p:cNvPr id="12" name="Editable shape 12"/>
          <p:cNvSpPr/>
          <p:nvPr/>
        </p:nvSpPr>
        <p:spPr>
          <a:xfrm>
            <a:off x="9372600" y="3511296"/>
            <a:ext cx="292608" cy="365760"/>
          </a:xfrm>
          <a:prstGeom prst="downArrow">
            <a:avLst/>
          </a:prstGeom>
          <a:solidFill>
            <a:srgbClr val="2585D6"/>
          </a:solidFill>
          <a:ln w="12700">
            <a:solidFill>
              <a:srgbClr val="2585D6"/>
            </a:solidFill>
          </a:ln>
        </p:spPr>
        <p:txBody>
          <a:bodyPr wrap="square" anchor="ctr" lIns="100000" rIns="100000" tIns="60000" bIns="60000"/>
          <a:lstStyle/>
          <a:p>
            <a:pPr algn="ctr"/>
            <a:r>
              <a:rPr lang="en-US" sz="1900" b="0">
                <a:solidFill>
                  <a:srgbClr val="183247"/>
                </a:solidFill>
                <a:latin typeface="Calibri"/>
              </a:rPr>
              <a:t/>
            </a:r>
            <a:endParaRPr lang="en-US"/>
          </a:p>
        </p:txBody>
      </p:sp>
      <p:sp>
        <p:nvSpPr>
          <p:cNvPr id="13" name="Editable shape 13"/>
          <p:cNvSpPr/>
          <p:nvPr/>
        </p:nvSpPr>
        <p:spPr>
          <a:xfrm>
            <a:off x="7955279" y="4023360"/>
            <a:ext cx="32461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9E6"/>
            </a:solidFill>
          </a:ln>
        </p:spPr>
        <p:txBody>
          <a:bodyPr wrap="square" anchor="ctr" lIns="100000" rIns="100000" tIns="60000" bIns="60000"/>
          <a:lstStyle/>
          <a:p>
            <a:pPr algn="ctr"/>
            <a:r>
              <a:rPr lang="en-US" sz="1800" b="0">
                <a:solidFill>
                  <a:srgbClr val="183247"/>
                </a:solidFill>
                <a:latin typeface="Calibri"/>
              </a:rPr>
              <a:t>Local AI engine</a:t>
            </a:r>
            <a:endParaRPr lang="en-US"/>
          </a:p>
          <a:p>
            <a:pPr algn="ctr"/>
            <a:r>
              <a:rPr lang="en-US" sz="1800" b="0">
                <a:solidFill>
                  <a:srgbClr val="183247"/>
                </a:solidFill>
                <a:latin typeface="Calibri"/>
              </a:rPr>
              <a:t>Find textbook excerpts</a:t>
            </a:r>
            <a:endParaRPr lang="en-US"/>
          </a:p>
          <a:p>
            <a:pPr algn="ctr"/>
            <a:r>
              <a:rPr lang="en-US" sz="1800" b="0">
                <a:solidFill>
                  <a:srgbClr val="183247"/>
                </a:solidFill>
                <a:latin typeface="Calibri"/>
              </a:rPr>
              <a:t>Generate an answer</a:t>
            </a:r>
            <a:endParaRPr lang="en-US"/>
          </a:p>
        </p:txBody>
      </p:sp>
      <p:sp>
        <p:nvSpPr>
          <p:cNvPr id="14" name="Editable shape 14"/>
          <p:cNvSpPr/>
          <p:nvPr/>
        </p:nvSpPr>
        <p:spPr>
          <a:xfrm>
            <a:off x="4526280" y="4023360"/>
            <a:ext cx="27889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9E6"/>
            </a:solidFill>
          </a:ln>
        </p:spPr>
        <p:txBody>
          <a:bodyPr wrap="square" anchor="ctr" lIns="100000" rIns="100000" tIns="60000" bIns="60000"/>
          <a:lstStyle/>
          <a:p>
            <a:pPr algn="ctr"/>
            <a:r>
              <a:rPr lang="en-US" sz="1700" b="0">
                <a:solidFill>
                  <a:srgbClr val="183247"/>
                </a:solidFill>
                <a:latin typeface="Calibri"/>
              </a:rPr>
              <a:t>Local vector database</a:t>
            </a:r>
            <a:endParaRPr lang="en-US"/>
          </a:p>
          <a:p>
            <a:pPr algn="ctr"/>
            <a:r>
              <a:rPr lang="en-US" sz="1700" b="0">
                <a:solidFill>
                  <a:srgbClr val="183247"/>
                </a:solidFill>
                <a:latin typeface="Calibri"/>
              </a:rPr>
              <a:t>Biology • Chemistry • Physics</a:t>
            </a:r>
            <a:endParaRPr lang="en-US"/>
          </a:p>
        </p:txBody>
      </p:sp>
      <p:sp>
        <p:nvSpPr>
          <p:cNvPr id="15" name="Editable shape 15"/>
          <p:cNvSpPr/>
          <p:nvPr/>
        </p:nvSpPr>
        <p:spPr>
          <a:xfrm>
            <a:off x="7406640" y="4434840"/>
            <a:ext cx="411480" cy="274320"/>
          </a:xfrm>
          <a:prstGeom prst="rightArrow">
            <a:avLst/>
          </a:prstGeom>
          <a:solidFill>
            <a:srgbClr val="2585D6"/>
          </a:solidFill>
          <a:ln w="12700">
            <a:solidFill>
              <a:srgbClr val="2585D6"/>
            </a:solidFill>
          </a:ln>
        </p:spPr>
        <p:txBody>
          <a:bodyPr wrap="square" anchor="ctr" lIns="100000" rIns="100000" tIns="60000" bIns="60000"/>
          <a:lstStyle/>
          <a:p>
            <a:pPr algn="ctr"/>
            <a:r>
              <a:rPr lang="en-US" sz="1900" b="0">
                <a:solidFill>
                  <a:srgbClr val="183247"/>
                </a:solidFill>
                <a:latin typeface="Calibri"/>
              </a:rPr>
              <a:t/>
            </a:r>
            <a:endParaRPr lang="en-US"/>
          </a:p>
        </p:txBody>
      </p:sp>
      <p:sp>
        <p:nvSpPr>
          <p:cNvPr id="16" name="Editable shape 16"/>
          <p:cNvSpPr/>
          <p:nvPr/>
        </p:nvSpPr>
        <p:spPr>
          <a:xfrm>
            <a:off x="3547872" y="3822191"/>
            <a:ext cx="420624" cy="274320"/>
          </a:xfrm>
          <a:prstGeom prst="rightArrow">
            <a:avLst/>
          </a:prstGeom>
          <a:solidFill>
            <a:srgbClr val="2585D6"/>
          </a:solidFill>
          <a:ln w="12700">
            <a:solidFill>
              <a:srgbClr val="2585D6"/>
            </a:solidFill>
          </a:ln>
        </p:spPr>
        <p:txBody>
          <a:bodyPr wrap="square" anchor="ctr" lIns="100000" rIns="100000" tIns="60000" bIns="60000"/>
          <a:lstStyle/>
          <a:p>
            <a:pPr algn="ctr"/>
            <a:r>
              <a:rPr lang="en-US" sz="1900" b="0">
                <a:solidFill>
                  <a:srgbClr val="183247"/>
                </a:solidFill>
                <a:latin typeface="Calibri"/>
              </a:rPr>
              <a:t/>
            </a:r>
            <a:endParaRPr lang="en-US"/>
          </a:p>
        </p:txBody>
      </p:sp>
      <p:sp>
        <p:nvSpPr>
          <p:cNvPr id="17" name="Editable shape 17"/>
          <p:cNvSpPr/>
          <p:nvPr/>
        </p:nvSpPr>
        <p:spPr>
          <a:xfrm>
            <a:off x="502920" y="4892040"/>
            <a:ext cx="2926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9E6"/>
            </a:solidFill>
          </a:ln>
        </p:spPr>
        <p:txBody>
          <a:bodyPr wrap="square" anchor="ctr" lIns="100000" rIns="100000" tIns="60000" bIns="60000"/>
          <a:lstStyle/>
          <a:p>
            <a:pPr algn="ctr"/>
            <a:r>
              <a:rPr lang="en-US" sz="1700" b="0">
                <a:solidFill>
                  <a:srgbClr val="183247"/>
                </a:solidFill>
                <a:latin typeface="Calibri"/>
              </a:rPr>
              <a:t>Bundled TIE textbook text</a:t>
            </a:r>
            <a:endParaRPr lang="en-US"/>
          </a:p>
          <a:p>
            <a:pPr algn="ctr"/>
            <a:r>
              <a:rPr lang="en-US" sz="1700" b="0">
                <a:solidFill>
                  <a:srgbClr val="183247"/>
                </a:solidFill>
                <a:latin typeface="Calibri"/>
              </a:rPr>
              <a:t>451 screened chunks</a:t>
            </a:r>
            <a:endParaRPr lang="en-US"/>
          </a:p>
          <a:p>
            <a:pPr algn="ctr"/>
            <a:r>
              <a:rPr lang="en-US" sz="1700" b="0">
                <a:solidFill>
                  <a:srgbClr val="183247"/>
                </a:solidFill>
                <a:latin typeface="Calibri"/>
              </a:rPr>
              <a:t>Indexed during setup</a:t>
            </a:r>
            <a:endParaRPr lang="en-US"/>
          </a:p>
        </p:txBody>
      </p:sp>
      <p:sp>
        <p:nvSpPr>
          <p:cNvPr id="18" name="Editable shape 18"/>
          <p:cNvSpPr/>
          <p:nvPr/>
        </p:nvSpPr>
        <p:spPr>
          <a:xfrm>
            <a:off x="4526280" y="5449824"/>
            <a:ext cx="6675120" cy="365760"/>
          </a:xfrm>
          <a:prstGeom prst="roundRect">
            <a:avLst/>
          </a:prstGeom>
          <a:solidFill>
            <a:srgbClr val="E8F3FF"/>
          </a:solidFill>
          <a:ln w="12700">
            <a:solidFill>
              <a:srgbClr val="E8F3FF"/>
            </a:solidFill>
          </a:ln>
        </p:spPr>
        <p:txBody>
          <a:bodyPr wrap="square" anchor="ctr" lIns="100000" rIns="100000" tIns="60000" bIns="60000"/>
          <a:lstStyle/>
          <a:p>
            <a:pPr algn="ctr"/>
            <a:r>
              <a:rPr lang="en-US" sz="1600" b="0">
                <a:solidFill>
                  <a:srgbClr val="144A80"/>
                </a:solidFill>
                <a:latin typeface="Calibri"/>
              </a:rPr>
              <a:t>After setup: textbook search and AI answers run offline.</a:t>
            </a:r>
            <a:endParaRPr lang="en-US"/>
          </a:p>
        </p:txBody>
      </p:sp>
      <p:sp>
        <p:nvSpPr>
          <p:cNvPr id="19" name="Editable shape 19"/>
          <p:cNvSpPr/>
          <p:nvPr/>
        </p:nvSpPr>
        <p:spPr>
          <a:xfrm>
            <a:off x="411480" y="6428232"/>
            <a:ext cx="11338560" cy="22860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F4F8FC"/>
            </a:solidFill>
          </a:ln>
        </p:spPr>
        <p:txBody>
          <a:bodyPr wrap="square" anchor="ctr" lIns="100000" rIns="100000" tIns="60000" bIns="60000"/>
          <a:lstStyle/>
          <a:p>
            <a:pPr algn="ctr"/>
            <a:r>
              <a:rPr lang="en-US" sz="1100" b="0">
                <a:solidFill>
                  <a:srgbClr val="60768A"/>
                </a:solidFill>
                <a:latin typeface="Calibri"/>
              </a:rPr>
              <a:t>UniLib  |  Conceptual diagram  |  1 / 3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shape 2"/>
          <p:cNvSpPr/>
          <p:nvPr/>
        </p:nvSpPr>
        <p:spPr>
          <a:xfrm>
            <a:off x="365760" y="228600"/>
            <a:ext cx="11430000" cy="54864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F4F8FC"/>
            </a:solidFill>
          </a:ln>
        </p:spPr>
        <p:txBody>
          <a:bodyPr wrap="square" anchor="ctr" lIns="100000" rIns="100000" tIns="60000" bIns="60000"/>
          <a:lstStyle/>
          <a:p>
            <a:pPr algn="ctr"/>
            <a:r>
              <a:rPr lang="en-US" sz="3000" b="1">
                <a:solidFill>
                  <a:srgbClr val="144A80"/>
                </a:solidFill>
                <a:latin typeface="Calibri"/>
              </a:rPr>
              <a:t>UniLib — Student Journey</a:t>
            </a:r>
            <a:endParaRPr lang="en-US"/>
          </a:p>
        </p:txBody>
      </p:sp>
      <p:sp>
        <p:nvSpPr>
          <p:cNvPr id="3" name="Editable shape 3"/>
          <p:cNvSpPr/>
          <p:nvPr/>
        </p:nvSpPr>
        <p:spPr>
          <a:xfrm>
            <a:off x="365760" y="868680"/>
            <a:ext cx="11430000" cy="4114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F4F8FC"/>
            </a:solidFill>
          </a:ln>
        </p:spPr>
        <p:txBody>
          <a:bodyPr wrap="square" anchor="ctr" lIns="100000" rIns="100000" tIns="60000" bIns="60000"/>
          <a:lstStyle/>
          <a:p>
            <a:pPr algn="ctr"/>
            <a:r>
              <a:rPr lang="en-US" sz="1600" b="0">
                <a:solidFill>
                  <a:srgbClr val="183247"/>
                </a:solidFill>
                <a:latin typeface="Calibri"/>
              </a:rPr>
              <a:t>A simple path from registration to offline study.</a:t>
            </a:r>
            <a:endParaRPr lang="en-US"/>
          </a:p>
        </p:txBody>
      </p:sp>
      <p:sp>
        <p:nvSpPr>
          <p:cNvPr id="4" name="Editable shape 4"/>
          <p:cNvSpPr/>
          <p:nvPr/>
        </p:nvSpPr>
        <p:spPr>
          <a:xfrm>
            <a:off x="502920" y="1691640"/>
            <a:ext cx="24231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9E6"/>
            </a:solidFill>
          </a:ln>
        </p:spPr>
        <p:txBody>
          <a:bodyPr wrap="square" anchor="ctr" lIns="100000" rIns="100000" tIns="60000" bIns="60000"/>
          <a:lstStyle/>
          <a:p>
            <a:pPr algn="ctr"/>
            <a:r>
              <a:rPr lang="en-US" sz="1900" b="0">
                <a:solidFill>
                  <a:srgbClr val="183247"/>
                </a:solidFill>
                <a:latin typeface="Calibri"/>
              </a:rPr>
              <a:t>1. Sign up</a:t>
            </a:r>
            <a:endParaRPr lang="en-US"/>
          </a:p>
          <a:p>
            <a:pPr algn="ctr"/>
            <a:r>
              <a:rPr lang="en-US" sz="1900" b="0">
                <a:solidFill>
                  <a:srgbClr val="183247"/>
                </a:solidFill>
                <a:latin typeface="Calibri"/>
              </a:rPr>
              <a:t>Username + phone number</a:t>
            </a:r>
            <a:endParaRPr lang="en-US"/>
          </a:p>
        </p:txBody>
      </p:sp>
      <p:sp>
        <p:nvSpPr>
          <p:cNvPr id="5" name="Editable shape 5"/>
          <p:cNvSpPr/>
          <p:nvPr/>
        </p:nvSpPr>
        <p:spPr>
          <a:xfrm>
            <a:off x="3008376" y="2148840"/>
            <a:ext cx="329184" cy="256032"/>
          </a:xfrm>
          <a:prstGeom prst="rightArrow">
            <a:avLst/>
          </a:prstGeom>
          <a:solidFill>
            <a:srgbClr val="2585D6"/>
          </a:solidFill>
          <a:ln w="12700">
            <a:solidFill>
              <a:srgbClr val="2585D6"/>
            </a:solidFill>
          </a:ln>
        </p:spPr>
        <p:txBody>
          <a:bodyPr wrap="square" anchor="ctr" lIns="100000" rIns="100000" tIns="60000" bIns="60000"/>
          <a:lstStyle/>
          <a:p>
            <a:pPr algn="ctr"/>
            <a:r>
              <a:rPr lang="en-US" sz="1900" b="0">
                <a:solidFill>
                  <a:srgbClr val="183247"/>
                </a:solidFill>
                <a:latin typeface="Calibri"/>
              </a:rPr>
              <a:t/>
            </a:r>
            <a:endParaRPr lang="en-US"/>
          </a:p>
        </p:txBody>
      </p:sp>
      <p:sp>
        <p:nvSpPr>
          <p:cNvPr id="6" name="Editable shape 6"/>
          <p:cNvSpPr/>
          <p:nvPr/>
        </p:nvSpPr>
        <p:spPr>
          <a:xfrm>
            <a:off x="3429000" y="1691640"/>
            <a:ext cx="24231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9E6"/>
            </a:solidFill>
          </a:ln>
        </p:spPr>
        <p:txBody>
          <a:bodyPr wrap="square" anchor="ctr" lIns="100000" rIns="100000" tIns="60000" bIns="60000"/>
          <a:lstStyle/>
          <a:p>
            <a:pPr algn="ctr"/>
            <a:r>
              <a:rPr lang="en-US" sz="1900" b="0">
                <a:solidFill>
                  <a:srgbClr val="183247"/>
                </a:solidFill>
                <a:latin typeface="Calibri"/>
              </a:rPr>
              <a:t>2. Receive SMS</a:t>
            </a:r>
            <a:endParaRPr lang="en-US"/>
          </a:p>
          <a:p>
            <a:pPr algn="ctr"/>
            <a:r>
              <a:rPr lang="en-US" sz="1900" b="0">
                <a:solidFill>
                  <a:srgbClr val="183247"/>
                </a:solidFill>
                <a:latin typeface="Calibri"/>
              </a:rPr>
              <a:t>Model access token</a:t>
            </a:r>
            <a:endParaRPr lang="en-US"/>
          </a:p>
        </p:txBody>
      </p:sp>
      <p:sp>
        <p:nvSpPr>
          <p:cNvPr id="7" name="Editable shape 7"/>
          <p:cNvSpPr/>
          <p:nvPr/>
        </p:nvSpPr>
        <p:spPr>
          <a:xfrm>
            <a:off x="5934456" y="2148840"/>
            <a:ext cx="329184" cy="256032"/>
          </a:xfrm>
          <a:prstGeom prst="rightArrow">
            <a:avLst/>
          </a:prstGeom>
          <a:solidFill>
            <a:srgbClr val="2585D6"/>
          </a:solidFill>
          <a:ln w="12700">
            <a:solidFill>
              <a:srgbClr val="2585D6"/>
            </a:solidFill>
          </a:ln>
        </p:spPr>
        <p:txBody>
          <a:bodyPr wrap="square" anchor="ctr" lIns="100000" rIns="100000" tIns="60000" bIns="60000"/>
          <a:lstStyle/>
          <a:p>
            <a:pPr algn="ctr"/>
            <a:r>
              <a:rPr lang="en-US" sz="1900" b="0">
                <a:solidFill>
                  <a:srgbClr val="183247"/>
                </a:solidFill>
                <a:latin typeface="Calibri"/>
              </a:rPr>
              <a:t/>
            </a:r>
            <a:endParaRPr lang="en-US"/>
          </a:p>
        </p:txBody>
      </p:sp>
      <p:sp>
        <p:nvSpPr>
          <p:cNvPr id="8" name="Editable shape 8"/>
          <p:cNvSpPr/>
          <p:nvPr/>
        </p:nvSpPr>
        <p:spPr>
          <a:xfrm>
            <a:off x="6355080" y="1691640"/>
            <a:ext cx="24231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9E6"/>
            </a:solidFill>
          </a:ln>
        </p:spPr>
        <p:txBody>
          <a:bodyPr wrap="square" anchor="ctr" lIns="100000" rIns="100000" tIns="60000" bIns="60000"/>
          <a:lstStyle/>
          <a:p>
            <a:pPr algn="ctr"/>
            <a:r>
              <a:rPr lang="en-US" sz="1900" b="0">
                <a:solidFill>
                  <a:srgbClr val="183247"/>
                </a:solidFill>
                <a:latin typeface="Calibri"/>
              </a:rPr>
              <a:t>3. Select model</a:t>
            </a:r>
            <a:endParaRPr lang="en-US"/>
          </a:p>
          <a:p>
            <a:pPr algn="ctr"/>
            <a:r>
              <a:rPr lang="en-US" sz="1900" b="0">
                <a:solidFill>
                  <a:srgbClr val="183247"/>
                </a:solidFill>
                <a:latin typeface="Calibri"/>
              </a:rPr>
              <a:t>UniLib Lite</a:t>
            </a:r>
            <a:endParaRPr lang="en-US"/>
          </a:p>
        </p:txBody>
      </p:sp>
      <p:sp>
        <p:nvSpPr>
          <p:cNvPr id="9" name="Editable shape 9"/>
          <p:cNvSpPr/>
          <p:nvPr/>
        </p:nvSpPr>
        <p:spPr>
          <a:xfrm>
            <a:off x="8860536" y="2148840"/>
            <a:ext cx="329184" cy="256032"/>
          </a:xfrm>
          <a:prstGeom prst="rightArrow">
            <a:avLst/>
          </a:prstGeom>
          <a:solidFill>
            <a:srgbClr val="2585D6"/>
          </a:solidFill>
          <a:ln w="12700">
            <a:solidFill>
              <a:srgbClr val="2585D6"/>
            </a:solidFill>
          </a:ln>
        </p:spPr>
        <p:txBody>
          <a:bodyPr wrap="square" anchor="ctr" lIns="100000" rIns="100000" tIns="60000" bIns="60000"/>
          <a:lstStyle/>
          <a:p>
            <a:pPr algn="ctr"/>
            <a:r>
              <a:rPr lang="en-US" sz="1900" b="0">
                <a:solidFill>
                  <a:srgbClr val="183247"/>
                </a:solidFill>
                <a:latin typeface="Calibri"/>
              </a:rPr>
              <a:t/>
            </a:r>
            <a:endParaRPr lang="en-US"/>
          </a:p>
        </p:txBody>
      </p:sp>
      <p:sp>
        <p:nvSpPr>
          <p:cNvPr id="10" name="Editable shape 10"/>
          <p:cNvSpPr/>
          <p:nvPr/>
        </p:nvSpPr>
        <p:spPr>
          <a:xfrm>
            <a:off x="9281160" y="1691640"/>
            <a:ext cx="24231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9E6"/>
            </a:solidFill>
          </a:ln>
        </p:spPr>
        <p:txBody>
          <a:bodyPr wrap="square" anchor="ctr" lIns="100000" rIns="100000" tIns="60000" bIns="60000"/>
          <a:lstStyle/>
          <a:p>
            <a:pPr algn="ctr"/>
            <a:r>
              <a:rPr lang="en-US" sz="1900" b="0">
                <a:solidFill>
                  <a:srgbClr val="183247"/>
                </a:solidFill>
                <a:latin typeface="Calibri"/>
              </a:rPr>
              <a:t>4. Prepare app</a:t>
            </a:r>
            <a:endParaRPr lang="en-US"/>
          </a:p>
          <a:p>
            <a:pPr algn="ctr"/>
            <a:r>
              <a:rPr lang="en-US" sz="1900" b="0">
                <a:solidFill>
                  <a:srgbClr val="183247"/>
                </a:solidFill>
                <a:latin typeface="Calibri"/>
              </a:rPr>
              <a:t>Enter token; download AI</a:t>
            </a:r>
            <a:endParaRPr lang="en-US"/>
          </a:p>
        </p:txBody>
      </p:sp>
      <p:sp>
        <p:nvSpPr>
          <p:cNvPr id="11" name="Editable shape 11"/>
          <p:cNvSpPr/>
          <p:nvPr/>
        </p:nvSpPr>
        <p:spPr>
          <a:xfrm>
            <a:off x="10332720" y="3063240"/>
            <a:ext cx="310896" cy="502920"/>
          </a:xfrm>
          <a:prstGeom prst="downArrow">
            <a:avLst/>
          </a:prstGeom>
          <a:solidFill>
            <a:srgbClr val="2585D6"/>
          </a:solidFill>
          <a:ln w="12700">
            <a:solidFill>
              <a:srgbClr val="2585D6"/>
            </a:solidFill>
          </a:ln>
        </p:spPr>
        <p:txBody>
          <a:bodyPr wrap="square" anchor="ctr" lIns="100000" rIns="100000" tIns="60000" bIns="60000"/>
          <a:lstStyle/>
          <a:p>
            <a:pPr algn="ctr"/>
            <a:r>
              <a:rPr lang="en-US" sz="1900" b="0">
                <a:solidFill>
                  <a:srgbClr val="183247"/>
                </a:solidFill>
                <a:latin typeface="Calibri"/>
              </a:rPr>
              <a:t/>
            </a:r>
            <a:endParaRPr lang="en-US"/>
          </a:p>
        </p:txBody>
      </p:sp>
      <p:sp>
        <p:nvSpPr>
          <p:cNvPr id="12" name="Editable shape 12"/>
          <p:cNvSpPr/>
          <p:nvPr/>
        </p:nvSpPr>
        <p:spPr>
          <a:xfrm>
            <a:off x="8732520" y="3767328"/>
            <a:ext cx="2834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9E6"/>
            </a:solidFill>
          </a:ln>
        </p:spPr>
        <p:txBody>
          <a:bodyPr wrap="square" anchor="ctr" lIns="100000" rIns="100000" tIns="60000" bIns="60000"/>
          <a:lstStyle/>
          <a:p>
            <a:pPr algn="ctr"/>
            <a:r>
              <a:rPr lang="en-US" sz="1900" b="0">
                <a:solidFill>
                  <a:srgbClr val="183247"/>
                </a:solidFill>
                <a:latin typeface="Calibri"/>
              </a:rPr>
              <a:t>5. Select Form 1</a:t>
            </a:r>
            <a:endParaRPr lang="en-US"/>
          </a:p>
          <a:p>
            <a:pPr algn="ctr"/>
            <a:r>
              <a:rPr lang="en-US" sz="1900" b="0">
                <a:solidFill>
                  <a:srgbClr val="183247"/>
                </a:solidFill>
                <a:latin typeface="Calibri"/>
              </a:rPr>
              <a:t>Biology, Chemistry, Physics</a:t>
            </a:r>
            <a:endParaRPr lang="en-US"/>
          </a:p>
        </p:txBody>
      </p:sp>
      <p:sp>
        <p:nvSpPr>
          <p:cNvPr id="13" name="Editable shape 13"/>
          <p:cNvSpPr/>
          <p:nvPr/>
        </p:nvSpPr>
        <p:spPr>
          <a:xfrm>
            <a:off x="4937760" y="3767328"/>
            <a:ext cx="2834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9E6"/>
            </a:solidFill>
          </a:ln>
        </p:spPr>
        <p:txBody>
          <a:bodyPr wrap="square" anchor="ctr" lIns="100000" rIns="100000" tIns="60000" bIns="60000"/>
          <a:lstStyle/>
          <a:p>
            <a:pPr algn="ctr"/>
            <a:r>
              <a:rPr lang="en-US" sz="1900" b="0">
                <a:solidFill>
                  <a:srgbClr val="183247"/>
                </a:solidFill>
                <a:latin typeface="Calibri"/>
              </a:rPr>
              <a:t>6. Open chat</a:t>
            </a:r>
            <a:endParaRPr lang="en-US"/>
          </a:p>
          <a:p>
            <a:pPr algn="ctr"/>
            <a:r>
              <a:rPr lang="en-US" sz="1900" b="0">
                <a:solidFill>
                  <a:srgbClr val="183247"/>
                </a:solidFill>
                <a:latin typeface="Calibri"/>
              </a:rPr>
              <a:t>Ask a study question</a:t>
            </a:r>
            <a:endParaRPr lang="en-US"/>
          </a:p>
        </p:txBody>
      </p:sp>
      <p:sp>
        <p:nvSpPr>
          <p:cNvPr id="14" name="Editable shape 14"/>
          <p:cNvSpPr/>
          <p:nvPr/>
        </p:nvSpPr>
        <p:spPr>
          <a:xfrm>
            <a:off x="1143000" y="3767328"/>
            <a:ext cx="2834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9E6"/>
            </a:solidFill>
          </a:ln>
        </p:spPr>
        <p:txBody>
          <a:bodyPr wrap="square" anchor="ctr" lIns="100000" rIns="100000" tIns="60000" bIns="60000"/>
          <a:lstStyle/>
          <a:p>
            <a:pPr algn="ctr"/>
            <a:r>
              <a:rPr lang="en-US" sz="1900" b="0">
                <a:solidFill>
                  <a:srgbClr val="183247"/>
                </a:solidFill>
                <a:latin typeface="Calibri"/>
              </a:rPr>
              <a:t>7. Study offline</a:t>
            </a:r>
            <a:endParaRPr lang="en-US"/>
          </a:p>
          <a:p>
            <a:pPr algn="ctr"/>
            <a:r>
              <a:rPr lang="en-US" sz="1900" b="0">
                <a:solidFill>
                  <a:srgbClr val="183247"/>
                </a:solidFill>
                <a:latin typeface="Calibri"/>
              </a:rPr>
              <a:t>Answer + textbook references</a:t>
            </a:r>
            <a:endParaRPr lang="en-US"/>
          </a:p>
        </p:txBody>
      </p:sp>
      <p:sp>
        <p:nvSpPr>
          <p:cNvPr id="15" name="Editable shape 15"/>
          <p:cNvSpPr/>
          <p:nvPr/>
        </p:nvSpPr>
        <p:spPr>
          <a:xfrm>
            <a:off x="7909560" y="4233672"/>
            <a:ext cx="548640" cy="27432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F4F8FC"/>
            </a:solidFill>
          </a:ln>
        </p:spPr>
        <p:txBody>
          <a:bodyPr wrap="square" anchor="ctr" lIns="100000" rIns="100000" tIns="60000" bIns="60000"/>
          <a:lstStyle/>
          <a:p>
            <a:pPr algn="ctr"/>
            <a:r>
              <a:rPr lang="en-US" sz="2700" b="0">
                <a:solidFill>
                  <a:srgbClr val="2585D6"/>
                </a:solidFill>
                <a:latin typeface="Calibri"/>
              </a:rPr>
              <a:t>←</a:t>
            </a:r>
            <a:endParaRPr lang="en-US"/>
          </a:p>
        </p:txBody>
      </p:sp>
      <p:sp>
        <p:nvSpPr>
          <p:cNvPr id="16" name="Editable shape 16"/>
          <p:cNvSpPr/>
          <p:nvPr/>
        </p:nvSpPr>
        <p:spPr>
          <a:xfrm>
            <a:off x="4114800" y="4233672"/>
            <a:ext cx="548640" cy="27432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F4F8FC"/>
            </a:solidFill>
          </a:ln>
        </p:spPr>
        <p:txBody>
          <a:bodyPr wrap="square" anchor="ctr" lIns="100000" rIns="100000" tIns="60000" bIns="60000"/>
          <a:lstStyle/>
          <a:p>
            <a:pPr algn="ctr"/>
            <a:r>
              <a:rPr lang="en-US" sz="2700" b="0">
                <a:solidFill>
                  <a:srgbClr val="2585D6"/>
                </a:solidFill>
                <a:latin typeface="Calibri"/>
              </a:rPr>
              <a:t>←</a:t>
            </a:r>
            <a:endParaRPr lang="en-US"/>
          </a:p>
        </p:txBody>
      </p:sp>
      <p:sp>
        <p:nvSpPr>
          <p:cNvPr id="17" name="Editable shape 17"/>
          <p:cNvSpPr/>
          <p:nvPr/>
        </p:nvSpPr>
        <p:spPr>
          <a:xfrm>
            <a:off x="731520" y="5532120"/>
            <a:ext cx="10698480" cy="502920"/>
          </a:xfrm>
          <a:prstGeom prst="roundRect">
            <a:avLst/>
          </a:prstGeom>
          <a:solidFill>
            <a:srgbClr val="DAEAFB"/>
          </a:solidFill>
          <a:ln w="12700">
            <a:solidFill>
              <a:srgbClr val="C9D9E6"/>
            </a:solidFill>
          </a:ln>
        </p:spPr>
        <p:txBody>
          <a:bodyPr wrap="square" anchor="ctr" lIns="100000" rIns="100000" tIns="60000" bIns="60000"/>
          <a:lstStyle/>
          <a:p>
            <a:pPr algn="ctr"/>
            <a:r>
              <a:rPr lang="en-US" sz="1700" b="0">
                <a:solidFill>
                  <a:srgbClr val="144A80"/>
                </a:solidFill>
                <a:latin typeface="Calibri"/>
              </a:rPr>
              <a:t>Current scope: Lite + Form 1 active  |  Pro, Max and Forms 2–6: coming soon</a:t>
            </a:r>
            <a:endParaRPr lang="en-US"/>
          </a:p>
        </p:txBody>
      </p:sp>
      <p:sp>
        <p:nvSpPr>
          <p:cNvPr id="18" name="Editable shape 18"/>
          <p:cNvSpPr/>
          <p:nvPr/>
        </p:nvSpPr>
        <p:spPr>
          <a:xfrm>
            <a:off x="411480" y="6428232"/>
            <a:ext cx="11338560" cy="22860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F4F8FC"/>
            </a:solidFill>
          </a:ln>
        </p:spPr>
        <p:txBody>
          <a:bodyPr wrap="square" anchor="ctr" lIns="100000" rIns="100000" tIns="60000" bIns="60000"/>
          <a:lstStyle/>
          <a:p>
            <a:pPr algn="ctr"/>
            <a:r>
              <a:rPr lang="en-US" sz="1100" b="0">
                <a:solidFill>
                  <a:srgbClr val="60768A"/>
                </a:solidFill>
                <a:latin typeface="Calibri"/>
              </a:rPr>
              <a:t>UniLib  |  Conceptual diagram  |  2 / 3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shape 2"/>
          <p:cNvSpPr/>
          <p:nvPr/>
        </p:nvSpPr>
        <p:spPr>
          <a:xfrm>
            <a:off x="365760" y="228600"/>
            <a:ext cx="11430000" cy="54864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F4F8FC"/>
            </a:solidFill>
          </a:ln>
        </p:spPr>
        <p:txBody>
          <a:bodyPr wrap="square" anchor="ctr" lIns="100000" rIns="100000" tIns="60000" bIns="60000"/>
          <a:lstStyle/>
          <a:p>
            <a:pPr algn="ctr"/>
            <a:r>
              <a:rPr lang="en-US" sz="3000" b="1">
                <a:solidFill>
                  <a:srgbClr val="144A80"/>
                </a:solidFill>
                <a:latin typeface="Calibri"/>
              </a:rPr>
              <a:t>UniLib — How an Answer Is Produced</a:t>
            </a:r>
            <a:endParaRPr lang="en-US"/>
          </a:p>
        </p:txBody>
      </p:sp>
      <p:sp>
        <p:nvSpPr>
          <p:cNvPr id="3" name="Editable shape 3"/>
          <p:cNvSpPr/>
          <p:nvPr/>
        </p:nvSpPr>
        <p:spPr>
          <a:xfrm>
            <a:off x="365760" y="868680"/>
            <a:ext cx="11430000" cy="4114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F4F8FC"/>
            </a:solidFill>
          </a:ln>
        </p:spPr>
        <p:txBody>
          <a:bodyPr wrap="square" anchor="ctr" lIns="100000" rIns="100000" tIns="60000" bIns="60000"/>
          <a:lstStyle/>
          <a:p>
            <a:pPr algn="ctr"/>
            <a:r>
              <a:rPr lang="en-US" sz="1600" b="0">
                <a:solidFill>
                  <a:srgbClr val="183247"/>
                </a:solidFill>
                <a:latin typeface="Calibri"/>
              </a:rPr>
              <a:t>RAG = Retrieval-Augmented Generation: find relevant textbook text before answering.</a:t>
            </a:r>
            <a:endParaRPr lang="en-US"/>
          </a:p>
        </p:txBody>
      </p:sp>
      <p:sp>
        <p:nvSpPr>
          <p:cNvPr id="4" name="Editable shape 4"/>
          <p:cNvSpPr/>
          <p:nvPr/>
        </p:nvSpPr>
        <p:spPr>
          <a:xfrm>
            <a:off x="502920" y="1874519"/>
            <a:ext cx="24231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9E6"/>
            </a:solidFill>
          </a:ln>
        </p:spPr>
        <p:txBody>
          <a:bodyPr wrap="square" anchor="ctr" lIns="100000" rIns="100000" tIns="60000" bIns="60000"/>
          <a:lstStyle/>
          <a:p>
            <a:pPr algn="ctr"/>
            <a:r>
              <a:rPr lang="en-US" sz="1800" b="0">
                <a:solidFill>
                  <a:srgbClr val="183247"/>
                </a:solidFill>
                <a:latin typeface="Calibri"/>
              </a:rPr>
              <a:t>Student question</a:t>
            </a:r>
            <a:endParaRPr lang="en-US"/>
          </a:p>
          <a:p>
            <a:pPr algn="ctr"/>
            <a:r>
              <a:rPr lang="en-US" sz="1800" b="0">
                <a:solidFill>
                  <a:srgbClr val="183247"/>
                </a:solidFill>
                <a:latin typeface="Calibri"/>
              </a:rPr>
              <a:t/>
            </a:r>
            <a:endParaRPr lang="en-US"/>
          </a:p>
          <a:p>
            <a:pPr algn="ctr"/>
            <a:r>
              <a:rPr lang="en-US" sz="1800" b="0">
                <a:solidFill>
                  <a:srgbClr val="183247"/>
                </a:solidFill>
                <a:latin typeface="Calibri"/>
              </a:rPr>
              <a:t>Text or speech converted to text</a:t>
            </a:r>
            <a:endParaRPr lang="en-US"/>
          </a:p>
        </p:txBody>
      </p:sp>
      <p:sp>
        <p:nvSpPr>
          <p:cNvPr id="5" name="Editable shape 5"/>
          <p:cNvSpPr/>
          <p:nvPr/>
        </p:nvSpPr>
        <p:spPr>
          <a:xfrm>
            <a:off x="2999232" y="2496312"/>
            <a:ext cx="347472" cy="274320"/>
          </a:xfrm>
          <a:prstGeom prst="rightArrow">
            <a:avLst/>
          </a:prstGeom>
          <a:solidFill>
            <a:srgbClr val="2585D6"/>
          </a:solidFill>
          <a:ln w="12700">
            <a:solidFill>
              <a:srgbClr val="2585D6"/>
            </a:solidFill>
          </a:ln>
        </p:spPr>
        <p:txBody>
          <a:bodyPr wrap="square" anchor="ctr" lIns="100000" rIns="100000" tIns="60000" bIns="60000"/>
          <a:lstStyle/>
          <a:p>
            <a:pPr algn="ctr"/>
            <a:r>
              <a:rPr lang="en-US" sz="1900" b="0">
                <a:solidFill>
                  <a:srgbClr val="183247"/>
                </a:solidFill>
                <a:latin typeface="Calibri"/>
              </a:rPr>
              <a:t/>
            </a:r>
            <a:endParaRPr lang="en-US"/>
          </a:p>
        </p:txBody>
      </p:sp>
      <p:sp>
        <p:nvSpPr>
          <p:cNvPr id="6" name="Editable shape 6"/>
          <p:cNvSpPr/>
          <p:nvPr/>
        </p:nvSpPr>
        <p:spPr>
          <a:xfrm>
            <a:off x="3429000" y="1874519"/>
            <a:ext cx="24231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9E6"/>
            </a:solidFill>
          </a:ln>
        </p:spPr>
        <p:txBody>
          <a:bodyPr wrap="square" anchor="ctr" lIns="100000" rIns="100000" tIns="60000" bIns="60000"/>
          <a:lstStyle/>
          <a:p>
            <a:pPr algn="ctr"/>
            <a:r>
              <a:rPr lang="en-US" sz="1800" b="0">
                <a:solidFill>
                  <a:srgbClr val="183247"/>
                </a:solidFill>
                <a:latin typeface="Calibri"/>
              </a:rPr>
              <a:t>Understand the question</a:t>
            </a:r>
            <a:endParaRPr lang="en-US"/>
          </a:p>
          <a:p>
            <a:pPr algn="ctr"/>
            <a:r>
              <a:rPr lang="en-US" sz="1800" b="0">
                <a:solidFill>
                  <a:srgbClr val="183247"/>
                </a:solidFill>
                <a:latin typeface="Calibri"/>
              </a:rPr>
              <a:t/>
            </a:r>
            <a:endParaRPr lang="en-US"/>
          </a:p>
          <a:p>
            <a:pPr algn="ctr"/>
            <a:r>
              <a:rPr lang="en-US" sz="1800" b="0">
                <a:solidFill>
                  <a:srgbClr val="183247"/>
                </a:solidFill>
                <a:latin typeface="Calibri"/>
              </a:rPr>
              <a:t>EmbeddingGemma creates a query vector</a:t>
            </a:r>
            <a:endParaRPr lang="en-US"/>
          </a:p>
        </p:txBody>
      </p:sp>
      <p:sp>
        <p:nvSpPr>
          <p:cNvPr id="7" name="Editable shape 7"/>
          <p:cNvSpPr/>
          <p:nvPr/>
        </p:nvSpPr>
        <p:spPr>
          <a:xfrm>
            <a:off x="5925312" y="2496312"/>
            <a:ext cx="347472" cy="274320"/>
          </a:xfrm>
          <a:prstGeom prst="rightArrow">
            <a:avLst/>
          </a:prstGeom>
          <a:solidFill>
            <a:srgbClr val="2585D6"/>
          </a:solidFill>
          <a:ln w="12700">
            <a:solidFill>
              <a:srgbClr val="2585D6"/>
            </a:solidFill>
          </a:ln>
        </p:spPr>
        <p:txBody>
          <a:bodyPr wrap="square" anchor="ctr" lIns="100000" rIns="100000" tIns="60000" bIns="60000"/>
          <a:lstStyle/>
          <a:p>
            <a:pPr algn="ctr"/>
            <a:r>
              <a:rPr lang="en-US" sz="1900" b="0">
                <a:solidFill>
                  <a:srgbClr val="183247"/>
                </a:solidFill>
                <a:latin typeface="Calibri"/>
              </a:rPr>
              <a:t/>
            </a:r>
            <a:endParaRPr lang="en-US"/>
          </a:p>
        </p:txBody>
      </p:sp>
      <p:sp>
        <p:nvSpPr>
          <p:cNvPr id="8" name="Editable shape 8"/>
          <p:cNvSpPr/>
          <p:nvPr/>
        </p:nvSpPr>
        <p:spPr>
          <a:xfrm>
            <a:off x="6355080" y="1874519"/>
            <a:ext cx="24231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9E6"/>
            </a:solidFill>
          </a:ln>
        </p:spPr>
        <p:txBody>
          <a:bodyPr wrap="square" anchor="ctr" lIns="100000" rIns="100000" tIns="60000" bIns="60000"/>
          <a:lstStyle/>
          <a:p>
            <a:pPr algn="ctr"/>
            <a:r>
              <a:rPr lang="en-US" sz="1800" b="0">
                <a:solidFill>
                  <a:srgbClr val="183247"/>
                </a:solidFill>
                <a:latin typeface="Calibri"/>
              </a:rPr>
              <a:t>Search the textbooks</a:t>
            </a:r>
            <a:endParaRPr lang="en-US"/>
          </a:p>
          <a:p>
            <a:pPr algn="ctr"/>
            <a:r>
              <a:rPr lang="en-US" sz="1800" b="0">
                <a:solidFill>
                  <a:srgbClr val="183247"/>
                </a:solidFill>
                <a:latin typeface="Calibri"/>
              </a:rPr>
              <a:t/>
            </a:r>
            <a:endParaRPr lang="en-US"/>
          </a:p>
          <a:p>
            <a:pPr algn="ctr"/>
            <a:r>
              <a:rPr lang="en-US" sz="1800" b="0">
                <a:solidFill>
                  <a:srgbClr val="183247"/>
                </a:solidFill>
                <a:latin typeface="Calibri"/>
              </a:rPr>
              <a:t>SQLite vector database finds relevant excerpts</a:t>
            </a:r>
            <a:endParaRPr lang="en-US"/>
          </a:p>
        </p:txBody>
      </p:sp>
      <p:sp>
        <p:nvSpPr>
          <p:cNvPr id="9" name="Editable shape 9"/>
          <p:cNvSpPr/>
          <p:nvPr/>
        </p:nvSpPr>
        <p:spPr>
          <a:xfrm>
            <a:off x="8851392" y="2496312"/>
            <a:ext cx="347472" cy="274320"/>
          </a:xfrm>
          <a:prstGeom prst="rightArrow">
            <a:avLst/>
          </a:prstGeom>
          <a:solidFill>
            <a:srgbClr val="2585D6"/>
          </a:solidFill>
          <a:ln w="12700">
            <a:solidFill>
              <a:srgbClr val="2585D6"/>
            </a:solidFill>
          </a:ln>
        </p:spPr>
        <p:txBody>
          <a:bodyPr wrap="square" anchor="ctr" lIns="100000" rIns="100000" tIns="60000" bIns="60000"/>
          <a:lstStyle/>
          <a:p>
            <a:pPr algn="ctr"/>
            <a:r>
              <a:rPr lang="en-US" sz="1900" b="0">
                <a:solidFill>
                  <a:srgbClr val="183247"/>
                </a:solidFill>
                <a:latin typeface="Calibri"/>
              </a:rPr>
              <a:t/>
            </a:r>
            <a:endParaRPr lang="en-US"/>
          </a:p>
        </p:txBody>
      </p:sp>
      <p:sp>
        <p:nvSpPr>
          <p:cNvPr id="10" name="Editable shape 10"/>
          <p:cNvSpPr/>
          <p:nvPr/>
        </p:nvSpPr>
        <p:spPr>
          <a:xfrm>
            <a:off x="9281160" y="1874519"/>
            <a:ext cx="24231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9E6"/>
            </a:solidFill>
          </a:ln>
        </p:spPr>
        <p:txBody>
          <a:bodyPr wrap="square" anchor="ctr" lIns="100000" rIns="100000" tIns="60000" bIns="60000"/>
          <a:lstStyle/>
          <a:p>
            <a:pPr algn="ctr"/>
            <a:r>
              <a:rPr lang="en-US" sz="1800" b="0">
                <a:solidFill>
                  <a:srgbClr val="183247"/>
                </a:solidFill>
                <a:latin typeface="Calibri"/>
              </a:rPr>
              <a:t>Write the answer</a:t>
            </a:r>
            <a:endParaRPr lang="en-US"/>
          </a:p>
          <a:p>
            <a:pPr algn="ctr"/>
            <a:r>
              <a:rPr lang="en-US" sz="1800" b="0">
                <a:solidFill>
                  <a:srgbClr val="183247"/>
                </a:solidFill>
                <a:latin typeface="Calibri"/>
              </a:rPr>
              <a:t/>
            </a:r>
            <a:endParaRPr lang="en-US"/>
          </a:p>
          <a:p>
            <a:pPr algn="ctr"/>
            <a:r>
              <a:rPr lang="en-US" sz="1800" b="0">
                <a:solidFill>
                  <a:srgbClr val="183247"/>
                </a:solidFill>
                <a:latin typeface="Calibri"/>
              </a:rPr>
              <a:t>Gemma 3 1B uses the selected excerpts</a:t>
            </a:r>
            <a:endParaRPr lang="en-US"/>
          </a:p>
        </p:txBody>
      </p:sp>
      <p:sp>
        <p:nvSpPr>
          <p:cNvPr id="11" name="Editable shape 11"/>
          <p:cNvSpPr/>
          <p:nvPr/>
        </p:nvSpPr>
        <p:spPr>
          <a:xfrm>
            <a:off x="10287000" y="3602736"/>
            <a:ext cx="320040" cy="457200"/>
          </a:xfrm>
          <a:prstGeom prst="downArrow">
            <a:avLst/>
          </a:prstGeom>
          <a:solidFill>
            <a:srgbClr val="2585D6"/>
          </a:solidFill>
          <a:ln w="12700">
            <a:solidFill>
              <a:srgbClr val="2585D6"/>
            </a:solidFill>
          </a:ln>
        </p:spPr>
        <p:txBody>
          <a:bodyPr wrap="square" anchor="ctr" lIns="100000" rIns="100000" tIns="60000" bIns="60000"/>
          <a:lstStyle/>
          <a:p>
            <a:pPr algn="ctr"/>
            <a:r>
              <a:rPr lang="en-US" sz="1900" b="0">
                <a:solidFill>
                  <a:srgbClr val="183247"/>
                </a:solidFill>
                <a:latin typeface="Calibri"/>
              </a:rPr>
              <a:t/>
            </a:r>
            <a:endParaRPr lang="en-US"/>
          </a:p>
        </p:txBody>
      </p:sp>
      <p:sp>
        <p:nvSpPr>
          <p:cNvPr id="12" name="Editable shape 12"/>
          <p:cNvSpPr/>
          <p:nvPr/>
        </p:nvSpPr>
        <p:spPr>
          <a:xfrm>
            <a:off x="7909560" y="4343400"/>
            <a:ext cx="3749039" cy="1005840"/>
          </a:xfrm>
          <a:prstGeom prst="roundRect">
            <a:avLst/>
          </a:prstGeom>
          <a:solidFill>
            <a:srgbClr val="DAEAFB"/>
          </a:solidFill>
          <a:ln w="12700">
            <a:solidFill>
              <a:srgbClr val="C9D9E6"/>
            </a:solidFill>
          </a:ln>
        </p:spPr>
        <p:txBody>
          <a:bodyPr wrap="square" anchor="ctr" lIns="100000" rIns="100000" tIns="60000" bIns="60000"/>
          <a:lstStyle/>
          <a:p>
            <a:pPr algn="ctr"/>
            <a:r>
              <a:rPr lang="en-US" sz="1900" b="0">
                <a:solidFill>
                  <a:srgbClr val="144A80"/>
                </a:solidFill>
                <a:latin typeface="Calibri"/>
              </a:rPr>
              <a:t>Student receives</a:t>
            </a:r>
            <a:endParaRPr lang="en-US"/>
          </a:p>
          <a:p>
            <a:pPr algn="ctr"/>
            <a:r>
              <a:rPr lang="en-US" sz="1900" b="0">
                <a:solidFill>
                  <a:srgbClr val="144A80"/>
                </a:solidFill>
                <a:latin typeface="Calibri"/>
              </a:rPr>
              <a:t>Answer + textbook page references</a:t>
            </a:r>
            <a:endParaRPr lang="en-US"/>
          </a:p>
        </p:txBody>
      </p:sp>
      <p:sp>
        <p:nvSpPr>
          <p:cNvPr id="13" name="Editable shape 13"/>
          <p:cNvSpPr/>
          <p:nvPr/>
        </p:nvSpPr>
        <p:spPr>
          <a:xfrm>
            <a:off x="502920" y="4114800"/>
            <a:ext cx="67208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9E6"/>
            </a:solidFill>
          </a:ln>
        </p:spPr>
        <p:txBody>
          <a:bodyPr wrap="square" anchor="ctr" lIns="100000" rIns="100000" tIns="60000" bIns="60000"/>
          <a:lstStyle/>
          <a:p>
            <a:pPr algn="ctr"/>
            <a:r>
              <a:rPr lang="en-US" sz="1900" b="0">
                <a:solidFill>
                  <a:srgbClr val="183247"/>
                </a:solidFill>
                <a:latin typeface="Calibri"/>
              </a:rPr>
              <a:t>TEXTBOOK PREPARATION</a:t>
            </a:r>
            <a:endParaRPr lang="en-US"/>
          </a:p>
          <a:p>
            <a:pPr algn="ctr"/>
            <a:r>
              <a:rPr lang="en-US" sz="1900" b="0">
                <a:solidFill>
                  <a:srgbClr val="183247"/>
                </a:solidFill>
                <a:latin typeface="Calibri"/>
              </a:rPr>
              <a:t>TIE books → OCR + cleaning → text chunks</a:t>
            </a:r>
            <a:endParaRPr lang="en-US"/>
          </a:p>
          <a:p>
            <a:pPr algn="ctr"/>
            <a:r>
              <a:rPr lang="en-US" sz="1900" b="0">
                <a:solidFill>
                  <a:srgbClr val="183247"/>
                </a:solidFill>
                <a:latin typeface="Calibri"/>
              </a:rPr>
              <a:t>EmbeddingGemma → local SQLite vector database</a:t>
            </a:r>
            <a:endParaRPr lang="en-US"/>
          </a:p>
        </p:txBody>
      </p:sp>
      <p:sp>
        <p:nvSpPr>
          <p:cNvPr id="14" name="Editable shape 14"/>
          <p:cNvSpPr/>
          <p:nvPr/>
        </p:nvSpPr>
        <p:spPr>
          <a:xfrm>
            <a:off x="685800" y="5715000"/>
            <a:ext cx="10835640" cy="36576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F4F8FC"/>
            </a:solidFill>
          </a:ln>
        </p:spPr>
        <p:txBody>
          <a:bodyPr wrap="square" anchor="ctr" lIns="100000" rIns="100000" tIns="60000" bIns="60000"/>
          <a:lstStyle/>
          <a:p>
            <a:pPr algn="ctr"/>
            <a:r>
              <a:rPr lang="en-US" sz="1500" b="0">
                <a:solidFill>
                  <a:srgbClr val="60768A"/>
                </a:solidFill>
                <a:latin typeface="Calibri"/>
              </a:rPr>
              <a:t>If the retrieved books do not contain enough evidence, the app reports that information was not found.</a:t>
            </a:r>
            <a:endParaRPr lang="en-US"/>
          </a:p>
        </p:txBody>
      </p:sp>
      <p:sp>
        <p:nvSpPr>
          <p:cNvPr id="15" name="Editable shape 15"/>
          <p:cNvSpPr/>
          <p:nvPr/>
        </p:nvSpPr>
        <p:spPr>
          <a:xfrm>
            <a:off x="411480" y="6428232"/>
            <a:ext cx="11338560" cy="22860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F4F8FC"/>
            </a:solidFill>
          </a:ln>
        </p:spPr>
        <p:txBody>
          <a:bodyPr wrap="square" anchor="ctr" lIns="100000" rIns="100000" tIns="60000" bIns="60000"/>
          <a:lstStyle/>
          <a:p>
            <a:pPr algn="ctr"/>
            <a:r>
              <a:rPr lang="en-US" sz="1100" b="0">
                <a:solidFill>
                  <a:srgbClr val="60768A"/>
                </a:solidFill>
                <a:latin typeface="Calibri"/>
              </a:rPr>
              <a:t>UniLib  |  Conceptual diagram  |  3 / 3</a:t>
            </a:r>
            <a:endParaRPr lang="en-US"/>
          </a:p>
        </p:txBody>
      </p:sp>
    </p:spTree>
  </p:cSld>
  <p:clrMapOvr>
    <a:masterClrMapping/>
  </p:clrMapOvr>
</p:sld>
</file>